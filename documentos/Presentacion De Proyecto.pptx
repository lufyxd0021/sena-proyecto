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8"/>
  </p:notesMasterIdLst>
  <p:handoutMasterIdLst>
    <p:handoutMasterId r:id="rId9"/>
  </p:handoutMasterIdLst>
  <p:sldIdLst>
    <p:sldId id="544" r:id="rId2"/>
    <p:sldId id="545" r:id="rId3"/>
    <p:sldId id="546" r:id="rId4"/>
    <p:sldId id="547" r:id="rId5"/>
    <p:sldId id="548" r:id="rId6"/>
    <p:sldId id="53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433"/>
    <a:srgbClr val="4D4D4C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7242"/>
  </p:normalViewPr>
  <p:slideViewPr>
    <p:cSldViewPr snapToGrid="0">
      <p:cViewPr varScale="1">
        <p:scale>
          <a:sx n="111" d="100"/>
          <a:sy n="111" d="100"/>
        </p:scale>
        <p:origin x="1152" y="96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prendizSena\Desktop\lesiones_personales_0%20(1)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prendizSena\Desktop\lesiones_personales_0%20(1)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prendizSena\Desktop\lesiones_personales_0%20(1)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[lesiones_personales_0 (1) (1).xlsx]CONSULTA 3!TablaDinámica2</c:name>
    <c:fmtId val="-1"/>
  </c:pivotSource>
  <c:chart>
    <c:title>
      <c:tx>
        <c:strRef>
          <c:f>'CONSULTA 3'!$A$1</c:f>
          <c:strCache>
            <c:ptCount val="1"/>
            <c:pt idx="0">
              <c:v>ARMAS/MEDIO EMPLEADOS VS GENERO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343433"/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percentStacked"/>
        <c:varyColors val="0"/>
        <c:ser>
          <c:idx val="0"/>
          <c:order val="0"/>
          <c:tx>
            <c:strRef>
              <c:f>'CONSULTA 3'!$B$3:$B$4</c:f>
              <c:strCache>
                <c:ptCount val="1"/>
                <c:pt idx="0">
                  <c:v>FEMENINO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'CONSULTA 3'!$A$1</c:f>
              <c:strCache>
                <c:ptCount val="40"/>
                <c:pt idx="0">
                  <c:v>ACIDO</c:v>
                </c:pt>
                <c:pt idx="1">
                  <c:v>AGUA CALIENTE</c:v>
                </c:pt>
                <c:pt idx="2">
                  <c:v>ALIMENTOS VENCIDOS</c:v>
                </c:pt>
                <c:pt idx="3">
                  <c:v>ALMOHADA</c:v>
                </c:pt>
                <c:pt idx="4">
                  <c:v>ALUCINOGENOS</c:v>
                </c:pt>
                <c:pt idx="5">
                  <c:v>ARMA BLANCA</c:v>
                </c:pt>
                <c:pt idx="6">
                  <c:v>ARMA DE FUEGO</c:v>
                </c:pt>
                <c:pt idx="7">
                  <c:v>ARMA TRAUMATICA</c:v>
                </c:pt>
                <c:pt idx="8">
                  <c:v>ARTEFACTO EXPLOSIVO</c:v>
                </c:pt>
                <c:pt idx="9">
                  <c:v>ARTEFACTO INCENDIARIO</c:v>
                </c:pt>
                <c:pt idx="10">
                  <c:v>BOLSA PLASTICA</c:v>
                </c:pt>
                <c:pt idx="11">
                  <c:v>CARRO BOMBA</c:v>
                </c:pt>
                <c:pt idx="12">
                  <c:v>CILINDRO BOMBA</c:v>
                </c:pt>
                <c:pt idx="13">
                  <c:v>CINTAS/CINTURON</c:v>
                </c:pt>
                <c:pt idx="14">
                  <c:v>COMBUSTIBLE</c:v>
                </c:pt>
                <c:pt idx="15">
                  <c:v>CONTUNDENTES</c:v>
                </c:pt>
                <c:pt idx="16">
                  <c:v>DRON</c:v>
                </c:pt>
                <c:pt idx="17">
                  <c:v>DRON / EXPLOSIVO</c:v>
                </c:pt>
                <c:pt idx="18">
                  <c:v>ESCOPOLAMINA</c:v>
                </c:pt>
                <c:pt idx="19">
                  <c:v>GASES</c:v>
                </c:pt>
                <c:pt idx="20">
                  <c:v>GRANADA DE MANO</c:v>
                </c:pt>
                <c:pt idx="21">
                  <c:v>JERINGA</c:v>
                </c:pt>
                <c:pt idx="22">
                  <c:v>LICOR ADULTERADO</c:v>
                </c:pt>
                <c:pt idx="23">
                  <c:v>MEDICAMENTOS</c:v>
                </c:pt>
                <c:pt idx="24">
                  <c:v>MINA ANTIPERSONA</c:v>
                </c:pt>
                <c:pt idx="25">
                  <c:v>MOTO</c:v>
                </c:pt>
                <c:pt idx="26">
                  <c:v>NO REPORTADO</c:v>
                </c:pt>
                <c:pt idx="27">
                  <c:v>NO REPORTADO </c:v>
                </c:pt>
                <c:pt idx="28">
                  <c:v>OLLA BOMBA</c:v>
                </c:pt>
                <c:pt idx="29">
                  <c:v>PAPA EXPLOSIVA</c:v>
                </c:pt>
                <c:pt idx="30">
                  <c:v>PAQUETE BOMBA</c:v>
                </c:pt>
                <c:pt idx="31">
                  <c:v>PERRO</c:v>
                </c:pt>
                <c:pt idx="32">
                  <c:v>POLVORA</c:v>
                </c:pt>
                <c:pt idx="33">
                  <c:v>PRENDAS DE VESTIR</c:v>
                </c:pt>
                <c:pt idx="34">
                  <c:v>QUIMICOS</c:v>
                </c:pt>
                <c:pt idx="35">
                  <c:v>ROCKET</c:v>
                </c:pt>
                <c:pt idx="36">
                  <c:v>SIN EMPLEO DE ARMAS</c:v>
                </c:pt>
                <c:pt idx="37">
                  <c:v>SUSTANCIAS TOXICAS</c:v>
                </c:pt>
                <c:pt idx="38">
                  <c:v>VEHICULO</c:v>
                </c:pt>
                <c:pt idx="39">
                  <c:v>VENENO</c:v>
                </c:pt>
              </c:strCache>
            </c:strRef>
          </c:cat>
          <c:val>
            <c:numRef>
              <c:f>'CONSULTA 3'!$A$1</c:f>
              <c:numCache>
                <c:formatCode>General</c:formatCode>
                <c:ptCount val="40"/>
                <c:pt idx="0">
                  <c:v>115</c:v>
                </c:pt>
                <c:pt idx="1">
                  <c:v>76</c:v>
                </c:pt>
                <c:pt idx="2">
                  <c:v>736</c:v>
                </c:pt>
                <c:pt idx="3">
                  <c:v>6</c:v>
                </c:pt>
                <c:pt idx="4">
                  <c:v>6</c:v>
                </c:pt>
                <c:pt idx="5">
                  <c:v>11269</c:v>
                </c:pt>
                <c:pt idx="6">
                  <c:v>3085</c:v>
                </c:pt>
                <c:pt idx="7">
                  <c:v>358</c:v>
                </c:pt>
                <c:pt idx="8">
                  <c:v>102</c:v>
                </c:pt>
                <c:pt idx="9">
                  <c:v>2</c:v>
                </c:pt>
                <c:pt idx="10">
                  <c:v>1</c:v>
                </c:pt>
                <c:pt idx="11">
                  <c:v>16</c:v>
                </c:pt>
                <c:pt idx="13">
                  <c:v>24</c:v>
                </c:pt>
                <c:pt idx="14">
                  <c:v>157</c:v>
                </c:pt>
                <c:pt idx="15">
                  <c:v>96730</c:v>
                </c:pt>
                <c:pt idx="16">
                  <c:v>3</c:v>
                </c:pt>
                <c:pt idx="17">
                  <c:v>1</c:v>
                </c:pt>
                <c:pt idx="18">
                  <c:v>45</c:v>
                </c:pt>
                <c:pt idx="19">
                  <c:v>44</c:v>
                </c:pt>
                <c:pt idx="20">
                  <c:v>39</c:v>
                </c:pt>
                <c:pt idx="21">
                  <c:v>24</c:v>
                </c:pt>
                <c:pt idx="22">
                  <c:v>4</c:v>
                </c:pt>
                <c:pt idx="23">
                  <c:v>16</c:v>
                </c:pt>
                <c:pt idx="24">
                  <c:v>5</c:v>
                </c:pt>
                <c:pt idx="25">
                  <c:v>107</c:v>
                </c:pt>
                <c:pt idx="26">
                  <c:v>270</c:v>
                </c:pt>
                <c:pt idx="27">
                  <c:v>5</c:v>
                </c:pt>
                <c:pt idx="29">
                  <c:v>3</c:v>
                </c:pt>
                <c:pt idx="31">
                  <c:v>350</c:v>
                </c:pt>
                <c:pt idx="32">
                  <c:v>17</c:v>
                </c:pt>
                <c:pt idx="33">
                  <c:v>6</c:v>
                </c:pt>
                <c:pt idx="34">
                  <c:v>52</c:v>
                </c:pt>
                <c:pt idx="36">
                  <c:v>81695</c:v>
                </c:pt>
                <c:pt idx="37">
                  <c:v>29</c:v>
                </c:pt>
                <c:pt idx="38">
                  <c:v>261</c:v>
                </c:pt>
                <c:pt idx="3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DC-46AE-BE2D-0A1BB93345F9}"/>
            </c:ext>
          </c:extLst>
        </c:ser>
        <c:ser>
          <c:idx val="1"/>
          <c:order val="1"/>
          <c:tx>
            <c:strRef>
              <c:f>'CONSULTA 3'!$C$3:$C$4</c:f>
              <c:strCache>
                <c:ptCount val="1"/>
                <c:pt idx="0">
                  <c:v>MASCULINO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'CONSULTA 3'!$A$1</c:f>
              <c:strCache>
                <c:ptCount val="40"/>
                <c:pt idx="0">
                  <c:v>ACIDO</c:v>
                </c:pt>
                <c:pt idx="1">
                  <c:v>AGUA CALIENTE</c:v>
                </c:pt>
                <c:pt idx="2">
                  <c:v>ALIMENTOS VENCIDOS</c:v>
                </c:pt>
                <c:pt idx="3">
                  <c:v>ALMOHADA</c:v>
                </c:pt>
                <c:pt idx="4">
                  <c:v>ALUCINOGENOS</c:v>
                </c:pt>
                <c:pt idx="5">
                  <c:v>ARMA BLANCA</c:v>
                </c:pt>
                <c:pt idx="6">
                  <c:v>ARMA DE FUEGO</c:v>
                </c:pt>
                <c:pt idx="7">
                  <c:v>ARMA TRAUMATICA</c:v>
                </c:pt>
                <c:pt idx="8">
                  <c:v>ARTEFACTO EXPLOSIVO</c:v>
                </c:pt>
                <c:pt idx="9">
                  <c:v>ARTEFACTO INCENDIARIO</c:v>
                </c:pt>
                <c:pt idx="10">
                  <c:v>BOLSA PLASTICA</c:v>
                </c:pt>
                <c:pt idx="11">
                  <c:v>CARRO BOMBA</c:v>
                </c:pt>
                <c:pt idx="12">
                  <c:v>CILINDRO BOMBA</c:v>
                </c:pt>
                <c:pt idx="13">
                  <c:v>CINTAS/CINTURON</c:v>
                </c:pt>
                <c:pt idx="14">
                  <c:v>COMBUSTIBLE</c:v>
                </c:pt>
                <c:pt idx="15">
                  <c:v>CONTUNDENTES</c:v>
                </c:pt>
                <c:pt idx="16">
                  <c:v>DRON</c:v>
                </c:pt>
                <c:pt idx="17">
                  <c:v>DRON / EXPLOSIVO</c:v>
                </c:pt>
                <c:pt idx="18">
                  <c:v>ESCOPOLAMINA</c:v>
                </c:pt>
                <c:pt idx="19">
                  <c:v>GASES</c:v>
                </c:pt>
                <c:pt idx="20">
                  <c:v>GRANADA DE MANO</c:v>
                </c:pt>
                <c:pt idx="21">
                  <c:v>JERINGA</c:v>
                </c:pt>
                <c:pt idx="22">
                  <c:v>LICOR ADULTERADO</c:v>
                </c:pt>
                <c:pt idx="23">
                  <c:v>MEDICAMENTOS</c:v>
                </c:pt>
                <c:pt idx="24">
                  <c:v>MINA ANTIPERSONA</c:v>
                </c:pt>
                <c:pt idx="25">
                  <c:v>MOTO</c:v>
                </c:pt>
                <c:pt idx="26">
                  <c:v>NO REPORTADO</c:v>
                </c:pt>
                <c:pt idx="27">
                  <c:v>NO REPORTADO </c:v>
                </c:pt>
                <c:pt idx="28">
                  <c:v>OLLA BOMBA</c:v>
                </c:pt>
                <c:pt idx="29">
                  <c:v>PAPA EXPLOSIVA</c:v>
                </c:pt>
                <c:pt idx="30">
                  <c:v>PAQUETE BOMBA</c:v>
                </c:pt>
                <c:pt idx="31">
                  <c:v>PERRO</c:v>
                </c:pt>
                <c:pt idx="32">
                  <c:v>POLVORA</c:v>
                </c:pt>
                <c:pt idx="33">
                  <c:v>PRENDAS DE VESTIR</c:v>
                </c:pt>
                <c:pt idx="34">
                  <c:v>QUIMICOS</c:v>
                </c:pt>
                <c:pt idx="35">
                  <c:v>ROCKET</c:v>
                </c:pt>
                <c:pt idx="36">
                  <c:v>SIN EMPLEO DE ARMAS</c:v>
                </c:pt>
                <c:pt idx="37">
                  <c:v>SUSTANCIAS TOXICAS</c:v>
                </c:pt>
                <c:pt idx="38">
                  <c:v>VEHICULO</c:v>
                </c:pt>
                <c:pt idx="39">
                  <c:v>VENENO</c:v>
                </c:pt>
              </c:strCache>
            </c:strRef>
          </c:cat>
          <c:val>
            <c:numRef>
              <c:f>'CONSULTA 3'!$A$1</c:f>
              <c:numCache>
                <c:formatCode>General</c:formatCode>
                <c:ptCount val="40"/>
                <c:pt idx="0">
                  <c:v>145</c:v>
                </c:pt>
                <c:pt idx="1">
                  <c:v>41</c:v>
                </c:pt>
                <c:pt idx="2">
                  <c:v>256</c:v>
                </c:pt>
                <c:pt idx="3">
                  <c:v>3</c:v>
                </c:pt>
                <c:pt idx="4">
                  <c:v>23</c:v>
                </c:pt>
                <c:pt idx="5">
                  <c:v>41098</c:v>
                </c:pt>
                <c:pt idx="6">
                  <c:v>17809</c:v>
                </c:pt>
                <c:pt idx="7">
                  <c:v>2151</c:v>
                </c:pt>
                <c:pt idx="8">
                  <c:v>741</c:v>
                </c:pt>
                <c:pt idx="9">
                  <c:v>35</c:v>
                </c:pt>
                <c:pt idx="10">
                  <c:v>2</c:v>
                </c:pt>
                <c:pt idx="11">
                  <c:v>54</c:v>
                </c:pt>
                <c:pt idx="12">
                  <c:v>10</c:v>
                </c:pt>
                <c:pt idx="13">
                  <c:v>34</c:v>
                </c:pt>
                <c:pt idx="14">
                  <c:v>251</c:v>
                </c:pt>
                <c:pt idx="15">
                  <c:v>123227</c:v>
                </c:pt>
                <c:pt idx="16">
                  <c:v>18</c:v>
                </c:pt>
                <c:pt idx="17">
                  <c:v>58</c:v>
                </c:pt>
                <c:pt idx="18">
                  <c:v>83</c:v>
                </c:pt>
                <c:pt idx="19">
                  <c:v>62</c:v>
                </c:pt>
                <c:pt idx="20">
                  <c:v>115</c:v>
                </c:pt>
                <c:pt idx="21">
                  <c:v>13</c:v>
                </c:pt>
                <c:pt idx="22">
                  <c:v>16</c:v>
                </c:pt>
                <c:pt idx="23">
                  <c:v>24</c:v>
                </c:pt>
                <c:pt idx="24">
                  <c:v>85</c:v>
                </c:pt>
                <c:pt idx="25">
                  <c:v>234</c:v>
                </c:pt>
                <c:pt idx="26">
                  <c:v>323</c:v>
                </c:pt>
                <c:pt idx="27">
                  <c:v>9</c:v>
                </c:pt>
                <c:pt idx="28">
                  <c:v>1</c:v>
                </c:pt>
                <c:pt idx="29">
                  <c:v>15</c:v>
                </c:pt>
                <c:pt idx="30">
                  <c:v>11</c:v>
                </c:pt>
                <c:pt idx="31">
                  <c:v>334</c:v>
                </c:pt>
                <c:pt idx="32">
                  <c:v>67</c:v>
                </c:pt>
                <c:pt idx="33">
                  <c:v>4</c:v>
                </c:pt>
                <c:pt idx="34">
                  <c:v>44</c:v>
                </c:pt>
                <c:pt idx="35">
                  <c:v>1</c:v>
                </c:pt>
                <c:pt idx="36">
                  <c:v>110885</c:v>
                </c:pt>
                <c:pt idx="37">
                  <c:v>32</c:v>
                </c:pt>
                <c:pt idx="38">
                  <c:v>558</c:v>
                </c:pt>
                <c:pt idx="39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DC-46AE-BE2D-0A1BB93345F9}"/>
            </c:ext>
          </c:extLst>
        </c:ser>
        <c:ser>
          <c:idx val="2"/>
          <c:order val="2"/>
          <c:tx>
            <c:strRef>
              <c:f>'CONSULTA 3'!$D$3:$D$4</c:f>
              <c:strCache>
                <c:ptCount val="1"/>
                <c:pt idx="0">
                  <c:v>NO REPORTADO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'CONSULTA 3'!$A$1</c:f>
              <c:strCache>
                <c:ptCount val="40"/>
                <c:pt idx="0">
                  <c:v>ACIDO</c:v>
                </c:pt>
                <c:pt idx="1">
                  <c:v>AGUA CALIENTE</c:v>
                </c:pt>
                <c:pt idx="2">
                  <c:v>ALIMENTOS VENCIDOS</c:v>
                </c:pt>
                <c:pt idx="3">
                  <c:v>ALMOHADA</c:v>
                </c:pt>
                <c:pt idx="4">
                  <c:v>ALUCINOGENOS</c:v>
                </c:pt>
                <c:pt idx="5">
                  <c:v>ARMA BLANCA</c:v>
                </c:pt>
                <c:pt idx="6">
                  <c:v>ARMA DE FUEGO</c:v>
                </c:pt>
                <c:pt idx="7">
                  <c:v>ARMA TRAUMATICA</c:v>
                </c:pt>
                <c:pt idx="8">
                  <c:v>ARTEFACTO EXPLOSIVO</c:v>
                </c:pt>
                <c:pt idx="9">
                  <c:v>ARTEFACTO INCENDIARIO</c:v>
                </c:pt>
                <c:pt idx="10">
                  <c:v>BOLSA PLASTICA</c:v>
                </c:pt>
                <c:pt idx="11">
                  <c:v>CARRO BOMBA</c:v>
                </c:pt>
                <c:pt idx="12">
                  <c:v>CILINDRO BOMBA</c:v>
                </c:pt>
                <c:pt idx="13">
                  <c:v>CINTAS/CINTURON</c:v>
                </c:pt>
                <c:pt idx="14">
                  <c:v>COMBUSTIBLE</c:v>
                </c:pt>
                <c:pt idx="15">
                  <c:v>CONTUNDENTES</c:v>
                </c:pt>
                <c:pt idx="16">
                  <c:v>DRON</c:v>
                </c:pt>
                <c:pt idx="17">
                  <c:v>DRON / EXPLOSIVO</c:v>
                </c:pt>
                <c:pt idx="18">
                  <c:v>ESCOPOLAMINA</c:v>
                </c:pt>
                <c:pt idx="19">
                  <c:v>GASES</c:v>
                </c:pt>
                <c:pt idx="20">
                  <c:v>GRANADA DE MANO</c:v>
                </c:pt>
                <c:pt idx="21">
                  <c:v>JERINGA</c:v>
                </c:pt>
                <c:pt idx="22">
                  <c:v>LICOR ADULTERADO</c:v>
                </c:pt>
                <c:pt idx="23">
                  <c:v>MEDICAMENTOS</c:v>
                </c:pt>
                <c:pt idx="24">
                  <c:v>MINA ANTIPERSONA</c:v>
                </c:pt>
                <c:pt idx="25">
                  <c:v>MOTO</c:v>
                </c:pt>
                <c:pt idx="26">
                  <c:v>NO REPORTADO</c:v>
                </c:pt>
                <c:pt idx="27">
                  <c:v>NO REPORTADO </c:v>
                </c:pt>
                <c:pt idx="28">
                  <c:v>OLLA BOMBA</c:v>
                </c:pt>
                <c:pt idx="29">
                  <c:v>PAPA EXPLOSIVA</c:v>
                </c:pt>
                <c:pt idx="30">
                  <c:v>PAQUETE BOMBA</c:v>
                </c:pt>
                <c:pt idx="31">
                  <c:v>PERRO</c:v>
                </c:pt>
                <c:pt idx="32">
                  <c:v>POLVORA</c:v>
                </c:pt>
                <c:pt idx="33">
                  <c:v>PRENDAS DE VESTIR</c:v>
                </c:pt>
                <c:pt idx="34">
                  <c:v>QUIMICOS</c:v>
                </c:pt>
                <c:pt idx="35">
                  <c:v>ROCKET</c:v>
                </c:pt>
                <c:pt idx="36">
                  <c:v>SIN EMPLEO DE ARMAS</c:v>
                </c:pt>
                <c:pt idx="37">
                  <c:v>SUSTANCIAS TOXICAS</c:v>
                </c:pt>
                <c:pt idx="38">
                  <c:v>VEHICULO</c:v>
                </c:pt>
                <c:pt idx="39">
                  <c:v>VENENO</c:v>
                </c:pt>
              </c:strCache>
            </c:strRef>
          </c:cat>
          <c:val>
            <c:numRef>
              <c:f>'CONSULTA 3'!$A$1</c:f>
              <c:numCache>
                <c:formatCode>General</c:formatCode>
                <c:ptCount val="40"/>
                <c:pt idx="5">
                  <c:v>13</c:v>
                </c:pt>
                <c:pt idx="6">
                  <c:v>2</c:v>
                </c:pt>
                <c:pt idx="7">
                  <c:v>2</c:v>
                </c:pt>
                <c:pt idx="15">
                  <c:v>125</c:v>
                </c:pt>
                <c:pt idx="26">
                  <c:v>1</c:v>
                </c:pt>
                <c:pt idx="31">
                  <c:v>2</c:v>
                </c:pt>
                <c:pt idx="36">
                  <c:v>579</c:v>
                </c:pt>
                <c:pt idx="38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9DC-46AE-BE2D-0A1BB93345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9750064"/>
        <c:axId val="1123803888"/>
      </c:lineChart>
      <c:catAx>
        <c:axId val="1949750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43433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123803888"/>
        <c:crosses val="autoZero"/>
        <c:auto val="1"/>
        <c:lblAlgn val="ctr"/>
        <c:lblOffset val="100"/>
        <c:noMultiLvlLbl val="0"/>
      </c:catAx>
      <c:valAx>
        <c:axId val="1123803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43433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949750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343433"/>
          </a:solidFill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[lesiones_personales_0 (1) (1).xlsx]CONSULTA 4!TablaDinámica3</c:name>
    <c:fmtId val="-1"/>
  </c:pivotSource>
  <c:chart>
    <c:title>
      <c:tx>
        <c:strRef>
          <c:f>'CONSULTA 4'!$A$1</c:f>
          <c:strCache>
            <c:ptCount val="1"/>
            <c:pt idx="0">
              <c:v>DISTRIBUCION POR GRUPO DE EDAD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343433"/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'CONSULTA 4'!$B$3:$B$4</c:f>
              <c:strCache>
                <c:ptCount val="1"/>
                <c:pt idx="0">
                  <c:v>ADOLESCENTES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'CONSULTA 4'!$A$1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4'!$A$1</c:f>
              <c:numCache>
                <c:formatCode>General</c:formatCode>
                <c:ptCount val="5"/>
                <c:pt idx="0">
                  <c:v>5273</c:v>
                </c:pt>
                <c:pt idx="1">
                  <c:v>8093</c:v>
                </c:pt>
                <c:pt idx="2">
                  <c:v>7169</c:v>
                </c:pt>
                <c:pt idx="3">
                  <c:v>6660</c:v>
                </c:pt>
                <c:pt idx="4">
                  <c:v>4447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5F-4412-9F18-480AB1934AA1}"/>
            </c:ext>
          </c:extLst>
        </c:ser>
        <c:ser>
          <c:idx val="1"/>
          <c:order val="1"/>
          <c:tx>
            <c:strRef>
              <c:f>'CONSULTA 4'!$C$3:$C$4</c:f>
              <c:strCache>
                <c:ptCount val="1"/>
                <c:pt idx="0">
                  <c:v>ADULTOS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'CONSULTA 4'!$A$1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4'!$A$1</c:f>
              <c:numCache>
                <c:formatCode>General</c:formatCode>
                <c:ptCount val="5"/>
                <c:pt idx="0">
                  <c:v>98179</c:v>
                </c:pt>
                <c:pt idx="1">
                  <c:v>100071</c:v>
                </c:pt>
                <c:pt idx="2">
                  <c:v>89933</c:v>
                </c:pt>
                <c:pt idx="3">
                  <c:v>82695</c:v>
                </c:pt>
                <c:pt idx="4">
                  <c:v>84333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5F-4412-9F18-480AB1934AA1}"/>
            </c:ext>
          </c:extLst>
        </c:ser>
        <c:ser>
          <c:idx val="2"/>
          <c:order val="2"/>
          <c:tx>
            <c:strRef>
              <c:f>'CONSULTA 4'!$D$3:$D$4</c:f>
              <c:strCache>
                <c:ptCount val="1"/>
                <c:pt idx="0">
                  <c:v>MENORES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'CONSULTA 4'!$A$1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4'!$A$1</c:f>
              <c:numCache>
                <c:formatCode>General</c:formatCode>
                <c:ptCount val="5"/>
                <c:pt idx="0">
                  <c:v>1786</c:v>
                </c:pt>
                <c:pt idx="1">
                  <c:v>2131</c:v>
                </c:pt>
                <c:pt idx="2">
                  <c:v>1612</c:v>
                </c:pt>
                <c:pt idx="3">
                  <c:v>1459</c:v>
                </c:pt>
                <c:pt idx="4">
                  <c:v>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5F-4412-9F18-480AB1934AA1}"/>
            </c:ext>
          </c:extLst>
        </c:ser>
        <c:ser>
          <c:idx val="3"/>
          <c:order val="3"/>
          <c:tx>
            <c:strRef>
              <c:f>'CONSULTA 4'!$E$3:$E$4</c:f>
              <c:strCache>
                <c:ptCount val="1"/>
                <c:pt idx="0">
                  <c:v>NO REPORTADO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'CONSULTA 4'!$A$1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4'!$A$1</c:f>
              <c:numCache>
                <c:formatCode>General</c:formatCode>
                <c:ptCount val="5"/>
                <c:pt idx="0">
                  <c:v>78</c:v>
                </c:pt>
                <c:pt idx="1">
                  <c:v>115</c:v>
                </c:pt>
                <c:pt idx="2">
                  <c:v>172</c:v>
                </c:pt>
                <c:pt idx="3">
                  <c:v>132</c:v>
                </c:pt>
                <c:pt idx="4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B5F-4412-9F18-480AB1934A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9731504"/>
        <c:axId val="1123819728"/>
      </c:barChart>
      <c:catAx>
        <c:axId val="19497315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43433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123819728"/>
        <c:crosses val="autoZero"/>
        <c:auto val="1"/>
        <c:lblAlgn val="ctr"/>
        <c:lblOffset val="100"/>
        <c:noMultiLvlLbl val="0"/>
      </c:catAx>
      <c:valAx>
        <c:axId val="11238197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43433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949731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343433"/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343433"/>
          </a:solidFill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[lesiones_personales_0 (1) (1).xlsx]CONSULTA 5!TablaDinámica4</c:name>
    <c:fmtId val="-1"/>
  </c:pivotSource>
  <c:chart>
    <c:title>
      <c:tx>
        <c:strRef>
          <c:f>'CONSULTA 5'!$A$1</c:f>
          <c:strCache>
            <c:ptCount val="1"/>
            <c:pt idx="0">
              <c:v>ESTACIONALIDAD POR DIA DE SEMANA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343433"/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'CONSULTA 5'!$B$3:$B$4</c:f>
              <c:strCache>
                <c:ptCount val="1"/>
                <c:pt idx="0">
                  <c:v>LUNES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'CONSULTA 5'!$A$1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5'!$A$1</c:f>
              <c:numCache>
                <c:formatCode>General</c:formatCode>
                <c:ptCount val="5"/>
                <c:pt idx="0">
                  <c:v>13621</c:v>
                </c:pt>
                <c:pt idx="1">
                  <c:v>14823</c:v>
                </c:pt>
                <c:pt idx="2">
                  <c:v>14192</c:v>
                </c:pt>
                <c:pt idx="3">
                  <c:v>13662</c:v>
                </c:pt>
                <c:pt idx="4">
                  <c:v>13233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C6-460D-8DF5-018DE40718A8}"/>
            </c:ext>
          </c:extLst>
        </c:ser>
        <c:ser>
          <c:idx val="1"/>
          <c:order val="1"/>
          <c:tx>
            <c:strRef>
              <c:f>'CONSULTA 5'!$C$3:$C$4</c:f>
              <c:strCache>
                <c:ptCount val="1"/>
                <c:pt idx="0">
                  <c:v>MARTES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'CONSULTA 5'!$A$1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5'!$A$1</c:f>
              <c:numCache>
                <c:formatCode>General</c:formatCode>
                <c:ptCount val="5"/>
                <c:pt idx="0">
                  <c:v>11814</c:v>
                </c:pt>
                <c:pt idx="1">
                  <c:v>12635</c:v>
                </c:pt>
                <c:pt idx="2">
                  <c:v>11171</c:v>
                </c:pt>
                <c:pt idx="3">
                  <c:v>10321</c:v>
                </c:pt>
                <c:pt idx="4">
                  <c:v>10146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C6-460D-8DF5-018DE40718A8}"/>
            </c:ext>
          </c:extLst>
        </c:ser>
        <c:ser>
          <c:idx val="2"/>
          <c:order val="2"/>
          <c:tx>
            <c:strRef>
              <c:f>'CONSULTA 5'!$D$3:$D$4</c:f>
              <c:strCache>
                <c:ptCount val="1"/>
                <c:pt idx="0">
                  <c:v>MIÉRCOLES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'CONSULTA 5'!$A$1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5'!$A$1</c:f>
              <c:numCache>
                <c:formatCode>General</c:formatCode>
                <c:ptCount val="5"/>
                <c:pt idx="0">
                  <c:v>12070</c:v>
                </c:pt>
                <c:pt idx="1">
                  <c:v>12375</c:v>
                </c:pt>
                <c:pt idx="2">
                  <c:v>10931</c:v>
                </c:pt>
                <c:pt idx="3">
                  <c:v>10968</c:v>
                </c:pt>
                <c:pt idx="4">
                  <c:v>10684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C6-460D-8DF5-018DE40718A8}"/>
            </c:ext>
          </c:extLst>
        </c:ser>
        <c:ser>
          <c:idx val="3"/>
          <c:order val="3"/>
          <c:tx>
            <c:strRef>
              <c:f>'CONSULTA 5'!$E$3:$E$4</c:f>
              <c:strCache>
                <c:ptCount val="1"/>
                <c:pt idx="0">
                  <c:v>JUEVES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'CONSULTA 5'!$A$1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5'!$A$1</c:f>
              <c:numCache>
                <c:formatCode>General</c:formatCode>
                <c:ptCount val="5"/>
                <c:pt idx="0">
                  <c:v>11487</c:v>
                </c:pt>
                <c:pt idx="1">
                  <c:v>12499</c:v>
                </c:pt>
                <c:pt idx="2">
                  <c:v>11049</c:v>
                </c:pt>
                <c:pt idx="3">
                  <c:v>9855</c:v>
                </c:pt>
                <c:pt idx="4">
                  <c:v>10481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C6-460D-8DF5-018DE40718A8}"/>
            </c:ext>
          </c:extLst>
        </c:ser>
        <c:ser>
          <c:idx val="4"/>
          <c:order val="4"/>
          <c:tx>
            <c:strRef>
              <c:f>'CONSULTA 5'!$F$3:$F$4</c:f>
              <c:strCache>
                <c:ptCount val="1"/>
                <c:pt idx="0">
                  <c:v>VIERNES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'CONSULTA 5'!$A$1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5'!$A$1</c:f>
              <c:numCache>
                <c:formatCode>General</c:formatCode>
                <c:ptCount val="5"/>
                <c:pt idx="0">
                  <c:v>13093</c:v>
                </c:pt>
                <c:pt idx="1">
                  <c:v>12332</c:v>
                </c:pt>
                <c:pt idx="2">
                  <c:v>11263</c:v>
                </c:pt>
                <c:pt idx="3">
                  <c:v>10015</c:v>
                </c:pt>
                <c:pt idx="4">
                  <c:v>10070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C6-460D-8DF5-018DE40718A8}"/>
            </c:ext>
          </c:extLst>
        </c:ser>
        <c:ser>
          <c:idx val="5"/>
          <c:order val="5"/>
          <c:tx>
            <c:strRef>
              <c:f>'CONSULTA 5'!$G$3:$G$4</c:f>
              <c:strCache>
                <c:ptCount val="1"/>
                <c:pt idx="0">
                  <c:v>SÁBADO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'CONSULTA 5'!$A$1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5'!$A$1</c:f>
              <c:numCache>
                <c:formatCode>General</c:formatCode>
                <c:ptCount val="5"/>
                <c:pt idx="0">
                  <c:v>18313</c:v>
                </c:pt>
                <c:pt idx="1">
                  <c:v>18960</c:v>
                </c:pt>
                <c:pt idx="2">
                  <c:v>15944</c:v>
                </c:pt>
                <c:pt idx="3">
                  <c:v>14445</c:v>
                </c:pt>
                <c:pt idx="4">
                  <c:v>13772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C6-460D-8DF5-018DE40718A8}"/>
            </c:ext>
          </c:extLst>
        </c:ser>
        <c:ser>
          <c:idx val="6"/>
          <c:order val="6"/>
          <c:tx>
            <c:strRef>
              <c:f>'CONSULTA 5'!$H$3:$H$4</c:f>
              <c:strCache>
                <c:ptCount val="1"/>
                <c:pt idx="0">
                  <c:v>DOMINGO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'CONSULTA 5'!$A$1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'CONSULTA 5'!$A$1</c:f>
              <c:numCache>
                <c:formatCode>General</c:formatCode>
                <c:ptCount val="5"/>
                <c:pt idx="0">
                  <c:v>24918</c:v>
                </c:pt>
                <c:pt idx="1">
                  <c:v>26786</c:v>
                </c:pt>
                <c:pt idx="2">
                  <c:v>24336</c:v>
                </c:pt>
                <c:pt idx="3">
                  <c:v>21680</c:v>
                </c:pt>
                <c:pt idx="4">
                  <c:v>21328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C6-460D-8DF5-018DE40718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8506864"/>
        <c:axId val="1123826448"/>
      </c:barChart>
      <c:catAx>
        <c:axId val="2078506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43433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123826448"/>
        <c:crosses val="autoZero"/>
        <c:auto val="1"/>
        <c:lblAlgn val="ctr"/>
        <c:lblOffset val="100"/>
        <c:noMultiLvlLbl val="0"/>
      </c:catAx>
      <c:valAx>
        <c:axId val="112382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43433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207850686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rgbClr val="343433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343433"/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343433"/>
          </a:solidFill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FCF1B-3E11-3F22-6015-1D39D50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E10E589-B888-5E3E-CA59-27D086F81F4B}"/>
              </a:ext>
            </a:extLst>
          </p:cNvPr>
          <p:cNvSpPr txBox="1"/>
          <p:nvPr/>
        </p:nvSpPr>
        <p:spPr>
          <a:xfrm>
            <a:off x="851528" y="723037"/>
            <a:ext cx="64536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s-CO" sz="2800" b="1" dirty="0"/>
              <a:t>IDENTIFICACIÓN, CUANTIFICACIÓN Y VISUALIZACIÓN DE PATRONES TEMPORALES, DEMOGRÁFICOS Y TERRITORIALES DE LESIONES PERSONALES EN COLOMBIA (2021-2025)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4E74E67-5DA0-D842-19A5-A58C5A6D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033201" y="1046587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1EE8E9-258F-5D3D-5407-C96214A312A8}"/>
              </a:ext>
            </a:extLst>
          </p:cNvPr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kumimoji="0" lang="es-CO" sz="1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SEMIBOLD ROMAN" pitchFamily="2" charset="77"/>
                <a:cs typeface="Arial" panose="020B0604020202020204" pitchFamily="34" charset="0"/>
              </a:rPr>
              <a:t>Clasificación de la información: </a:t>
            </a: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Pública</a:t>
            </a:r>
            <a:endParaRPr kumimoji="0" lang="es-CO" sz="10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SEMIBOLD ROMAN" pitchFamily="2" charset="77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0866DD0-F922-1F7F-D165-F02EAAF21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158" y="4211128"/>
            <a:ext cx="1833199" cy="183319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E4570BC-41D7-173D-6E8F-931DF49727E7}"/>
              </a:ext>
            </a:extLst>
          </p:cNvPr>
          <p:cNvSpPr txBox="1"/>
          <p:nvPr/>
        </p:nvSpPr>
        <p:spPr>
          <a:xfrm>
            <a:off x="851528" y="3087976"/>
            <a:ext cx="64536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i="1" dirty="0">
                <a:solidFill>
                  <a:srgbClr val="343433"/>
                </a:solidFill>
              </a:rPr>
              <a:t>Análisis de tendencias, segmentación demográfica y territorial</a:t>
            </a:r>
          </a:p>
          <a:p>
            <a:r>
              <a:rPr lang="es-CO" sz="1600" dirty="0">
                <a:solidFill>
                  <a:srgbClr val="343433"/>
                </a:solidFill>
              </a:rPr>
              <a:t>Informe de Analítica de Datos</a:t>
            </a:r>
          </a:p>
          <a:p>
            <a:r>
              <a:rPr lang="es-CO" sz="1600" dirty="0">
                <a:solidFill>
                  <a:srgbClr val="343433"/>
                </a:solidFill>
              </a:rPr>
              <a:t>Fuente de los datos: Registros de lesiones personales, Colombia 2021–2025</a:t>
            </a:r>
          </a:p>
          <a:p>
            <a:r>
              <a:rPr lang="es-CO" sz="1600" dirty="0">
                <a:solidFill>
                  <a:srgbClr val="343433"/>
                </a:solidFill>
              </a:rPr>
              <a:t>Servicio Nacional de Aprendizaje – SENA</a:t>
            </a:r>
          </a:p>
          <a:p>
            <a:r>
              <a:rPr lang="es-CO" sz="1600" dirty="0">
                <a:solidFill>
                  <a:srgbClr val="343433"/>
                </a:solidFill>
              </a:rPr>
              <a:t>Integrante(s): David Esteban Leal Roa · Institución: Servicio Nacional de Aprendizaje – SENA</a:t>
            </a:r>
          </a:p>
          <a:p>
            <a:r>
              <a:rPr lang="es-CO" sz="1600" dirty="0">
                <a:solidFill>
                  <a:srgbClr val="343433"/>
                </a:solidFill>
              </a:rPr>
              <a:t>Ciudad: Barranquilla · Fecha de entrega: 23/09/2026</a:t>
            </a:r>
          </a:p>
        </p:txBody>
      </p:sp>
    </p:spTree>
    <p:extLst>
      <p:ext uri="{BB962C8B-B14F-4D97-AF65-F5344CB8AC3E}">
        <p14:creationId xmlns:p14="http://schemas.microsoft.com/office/powerpoint/2010/main" val="261942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CD966-F813-E10E-96CE-F7706541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5B70128-05EE-52BE-9070-C9F6385B5F09}"/>
              </a:ext>
            </a:extLst>
          </p:cNvPr>
          <p:cNvSpPr txBox="1"/>
          <p:nvPr/>
        </p:nvSpPr>
        <p:spPr>
          <a:xfrm>
            <a:off x="782517" y="766169"/>
            <a:ext cx="4419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s-CO" sz="2800" b="1" dirty="0"/>
              <a:t>LESIONES PERSONALES EN COLOMBIA (2021-2025)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F682174-DD10-3D1D-BFD5-47808500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766009E-00F7-0436-FC93-CC43F2F34680}"/>
              </a:ext>
            </a:extLst>
          </p:cNvPr>
          <p:cNvSpPr txBox="1"/>
          <p:nvPr/>
        </p:nvSpPr>
        <p:spPr>
          <a:xfrm>
            <a:off x="391886" y="296863"/>
            <a:ext cx="32021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clasificada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85FDFF-4F47-8957-B9FD-48E2E6282ED2}"/>
              </a:ext>
            </a:extLst>
          </p:cNvPr>
          <p:cNvSpPr txBox="1"/>
          <p:nvPr/>
        </p:nvSpPr>
        <p:spPr>
          <a:xfrm>
            <a:off x="782517" y="1843387"/>
            <a:ext cx="4531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dirty="0">
                <a:solidFill>
                  <a:srgbClr val="343433"/>
                </a:solidFill>
              </a:rPr>
              <a:t>Planteamiento Problema </a:t>
            </a:r>
          </a:p>
        </p:txBody>
      </p:sp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C239F9A2-9972-280E-ACC6-AD0E85AF7B9D}"/>
              </a:ext>
            </a:extLst>
          </p:cNvPr>
          <p:cNvSpPr txBox="1">
            <a:spLocks/>
          </p:cNvSpPr>
          <p:nvPr/>
        </p:nvSpPr>
        <p:spPr>
          <a:xfrm>
            <a:off x="782517" y="2428162"/>
            <a:ext cx="4531356" cy="267004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50" dirty="0">
                <a:solidFill>
                  <a:srgbClr val="343433"/>
                </a:solidFill>
              </a:rPr>
              <a:t>Colombia registra </a:t>
            </a:r>
            <a:r>
              <a:rPr lang="es-CO" sz="1050" b="1" dirty="0">
                <a:solidFill>
                  <a:srgbClr val="343433"/>
                </a:solidFill>
              </a:rPr>
              <a:t>332.390 casos de lesiones personales entre 2021 y 2025</a:t>
            </a:r>
            <a:r>
              <a:rPr lang="es-CO" sz="1050" dirty="0">
                <a:solidFill>
                  <a:srgbClr val="343433"/>
                </a:solidFill>
              </a:rPr>
              <a:t>, equivalentes a </a:t>
            </a:r>
            <a:r>
              <a:rPr lang="es-CO" sz="1050" b="1" dirty="0">
                <a:solidFill>
                  <a:srgbClr val="343433"/>
                </a:solidFill>
              </a:rPr>
              <a:t>495.272 víctimas</a:t>
            </a:r>
            <a:r>
              <a:rPr lang="es-CO" sz="1050" dirty="0">
                <a:solidFill>
                  <a:srgbClr val="343433"/>
                </a:solidFill>
              </a:rPr>
              <a:t>, distribuidos de forma desigual en el tiempo, los grupos poblacionales y el territorio. La información está en bases de datos públicas, pero en un formato extenso (</a:t>
            </a:r>
            <a:r>
              <a:rPr lang="es-CO" sz="1050" b="1" dirty="0">
                <a:solidFill>
                  <a:srgbClr val="343433"/>
                </a:solidFill>
              </a:rPr>
              <a:t>332.390 filas y 26 columnas</a:t>
            </a:r>
            <a:r>
              <a:rPr lang="es-CO" sz="1050" dirty="0">
                <a:solidFill>
                  <a:srgbClr val="343433"/>
                </a:solidFill>
              </a:rPr>
              <a:t>) que dificulta su interpretación directa.</a:t>
            </a:r>
          </a:p>
          <a:p>
            <a:r>
              <a:rPr lang="es-CO" sz="1050" dirty="0">
                <a:solidFill>
                  <a:srgbClr val="343433"/>
                </a:solidFill>
              </a:rPr>
              <a:t>El problema no es la falta de información, sino la </a:t>
            </a:r>
            <a:r>
              <a:rPr lang="es-CO" sz="1050" b="1" dirty="0">
                <a:solidFill>
                  <a:srgbClr val="343433"/>
                </a:solidFill>
              </a:rPr>
              <a:t>ausencia de una herramienta que la organice, resuma y comunique claramente</a:t>
            </a:r>
            <a:r>
              <a:rPr lang="es-CO" sz="1050" dirty="0">
                <a:solidFill>
                  <a:srgbClr val="343433"/>
                </a:solidFill>
              </a:rPr>
              <a:t>. Sin ella, preguntas básicas como en qué año hubo más casos, qué día de la semana concentra más registros o qué región ha mejorado menos solo pueden responderse revisando manualmente cientos de miles de filas, lo que impide un seguimiento ágil del fenómeno.</a:t>
            </a:r>
          </a:p>
          <a:p>
            <a:r>
              <a:rPr lang="es-CO" sz="1050" dirty="0">
                <a:solidFill>
                  <a:srgbClr val="343433"/>
                </a:solidFill>
              </a:rPr>
              <a:t>Pregunta de investigación: ¿cómo se comportan los casos de lesiones personales en Colombia entre 2021 y 2025 en sus dimensiones temporal, demográfica y territorial, y de qué manera puede transformarse esa información en un </a:t>
            </a:r>
            <a:r>
              <a:rPr lang="es-CO" sz="1050" dirty="0" err="1">
                <a:solidFill>
                  <a:srgbClr val="343433"/>
                </a:solidFill>
              </a:rPr>
              <a:t>dashboard</a:t>
            </a:r>
            <a:r>
              <a:rPr lang="es-CO" sz="1050" dirty="0">
                <a:solidFill>
                  <a:srgbClr val="343433"/>
                </a:solidFill>
              </a:rPr>
              <a:t> que facilite su seguimiento y apoye la toma de decisiones?</a:t>
            </a:r>
            <a:br>
              <a:rPr lang="es-CO" sz="1050" dirty="0">
                <a:solidFill>
                  <a:srgbClr val="343433"/>
                </a:solidFill>
              </a:rPr>
            </a:br>
            <a:endParaRPr lang="es-CO" sz="1050" dirty="0">
              <a:solidFill>
                <a:srgbClr val="343433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AF6FE5-311E-599E-6E50-D0005B2D2AC2}"/>
              </a:ext>
            </a:extLst>
          </p:cNvPr>
          <p:cNvSpPr txBox="1"/>
          <p:nvPr/>
        </p:nvSpPr>
        <p:spPr>
          <a:xfrm>
            <a:off x="5495044" y="766168"/>
            <a:ext cx="4419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s-CO" sz="2800" b="1" dirty="0"/>
              <a:t>LESIONES PERSONALES EN COLOMBIA (2021-2025)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1089713-01A1-AB02-271B-94D7420416BA}"/>
              </a:ext>
            </a:extLst>
          </p:cNvPr>
          <p:cNvSpPr txBox="1">
            <a:spLocks/>
          </p:cNvSpPr>
          <p:nvPr/>
        </p:nvSpPr>
        <p:spPr>
          <a:xfrm>
            <a:off x="6096000" y="1963973"/>
            <a:ext cx="5183188" cy="3134238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b="1" dirty="0">
                <a:solidFill>
                  <a:srgbClr val="343433"/>
                </a:solidFill>
              </a:rPr>
              <a:t>Objetivo general:</a:t>
            </a:r>
            <a:endParaRPr lang="es-CO" dirty="0">
              <a:solidFill>
                <a:srgbClr val="343433"/>
              </a:solidFill>
            </a:endParaRPr>
          </a:p>
          <a:p>
            <a:r>
              <a:rPr lang="es-CO" dirty="0">
                <a:solidFill>
                  <a:srgbClr val="343433"/>
                </a:solidFill>
              </a:rPr>
              <a:t>Identificar, cuantificar y visualizar los patrones temporales, demográficos y territoriales de los casos de lesiones personales en Colombia entre 2021 y 2025, como insumo para un </a:t>
            </a:r>
            <a:r>
              <a:rPr lang="es-CO" dirty="0" err="1">
                <a:solidFill>
                  <a:srgbClr val="343433"/>
                </a:solidFill>
              </a:rPr>
              <a:t>dashboard</a:t>
            </a:r>
            <a:r>
              <a:rPr lang="es-CO" dirty="0">
                <a:solidFill>
                  <a:srgbClr val="343433"/>
                </a:solidFill>
              </a:rPr>
              <a:t> de seguimiento.</a:t>
            </a:r>
          </a:p>
          <a:p>
            <a:r>
              <a:rPr lang="es-CO" b="1" dirty="0">
                <a:solidFill>
                  <a:srgbClr val="343433"/>
                </a:solidFill>
              </a:rPr>
              <a:t>Objetivos específicos:</a:t>
            </a:r>
            <a:endParaRPr lang="es-CO" dirty="0">
              <a:solidFill>
                <a:srgbClr val="343433"/>
              </a:solidFill>
            </a:endParaRPr>
          </a:p>
          <a:p>
            <a:r>
              <a:rPr lang="es-CO" dirty="0">
                <a:solidFill>
                  <a:srgbClr val="343433"/>
                </a:solidFill>
              </a:rPr>
              <a:t>Cuantificar la evolución temporal de los casos a nivel anual y mensual, y su tasa de variación interanual.</a:t>
            </a:r>
          </a:p>
          <a:p>
            <a:r>
              <a:rPr lang="es-CO" dirty="0">
                <a:solidFill>
                  <a:srgbClr val="343433"/>
                </a:solidFill>
              </a:rPr>
              <a:t>Establecer la relación entre el arma o medio empleado y el género de la persona afectada.</a:t>
            </a:r>
          </a:p>
          <a:p>
            <a:r>
              <a:rPr lang="es-CO" dirty="0">
                <a:solidFill>
                  <a:srgbClr val="343433"/>
                </a:solidFill>
              </a:rPr>
              <a:t>Caracterizar la distribución por grupo de edad.</a:t>
            </a:r>
          </a:p>
          <a:p>
            <a:r>
              <a:rPr lang="es-CO" dirty="0">
                <a:solidFill>
                  <a:srgbClr val="343433"/>
                </a:solidFill>
              </a:rPr>
              <a:t>Cuantificar la concentración de casos por día de la semana.</a:t>
            </a:r>
          </a:p>
          <a:p>
            <a:r>
              <a:rPr lang="es-CO" dirty="0">
                <a:solidFill>
                  <a:srgbClr val="343433"/>
                </a:solidFill>
              </a:rPr>
              <a:t>Comparar la evolución de los casos entre l a 6 regiones del país.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4557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C34FF-89E7-47C7-3A37-78FFB8A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571B4D7-6708-9B31-F5CA-A52CA40E48E4}"/>
              </a:ext>
            </a:extLst>
          </p:cNvPr>
          <p:cNvSpPr txBox="1"/>
          <p:nvPr/>
        </p:nvSpPr>
        <p:spPr>
          <a:xfrm>
            <a:off x="756638" y="1055213"/>
            <a:ext cx="9450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s-CO" sz="3200" b="1" dirty="0"/>
              <a:t>Análisis de los resultados en la información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1364D8E-78B6-07F8-68E4-61B3214D3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802C029-25AE-EAC0-B2FF-C2F8E61FB8C5}"/>
              </a:ext>
            </a:extLst>
          </p:cNvPr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reservada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C921F1-1119-74B2-FB42-3B685B4C1DAC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3594189" cy="3460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dirty="0">
                <a:solidFill>
                  <a:srgbClr val="343433"/>
                </a:solidFill>
              </a:rPr>
              <a:t>Tendencia anual y estacionalidad mensual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B97C0C1C-2C4E-7175-0AD5-35F8AFD9AA17}"/>
              </a:ext>
            </a:extLst>
          </p:cNvPr>
          <p:cNvSpPr txBox="1">
            <a:spLocks/>
          </p:cNvSpPr>
          <p:nvPr/>
        </p:nvSpPr>
        <p:spPr>
          <a:xfrm>
            <a:off x="839788" y="2027208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50" b="1" dirty="0">
                <a:solidFill>
                  <a:srgbClr val="343433"/>
                </a:solidFill>
              </a:rPr>
              <a:t>¿Por qué se incluye este análisis?</a:t>
            </a:r>
            <a:br>
              <a:rPr lang="es-CO" sz="1050" dirty="0">
                <a:solidFill>
                  <a:srgbClr val="343433"/>
                </a:solidFill>
              </a:rPr>
            </a:br>
            <a:r>
              <a:rPr lang="es-CO" sz="1050" dirty="0">
                <a:solidFill>
                  <a:srgbClr val="343433"/>
                </a:solidFill>
              </a:rPr>
              <a:t>La tendencia anual no explica si los casos se distribuyen de forma pareja durante el año o si existen épocas críticas. Esta consulta es la base para decisiones operativas: refuerzo de personal o campañas de prevención en fechas específicas, algo que un análisis solo anual no permite identificar</a:t>
            </a:r>
            <a:r>
              <a:rPr lang="es-CO" sz="1050" dirty="0"/>
              <a:t>.</a:t>
            </a:r>
          </a:p>
          <a:p>
            <a:endParaRPr lang="es-CO" sz="10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36818E1-DF89-F3FA-6408-C8B7B26CB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20" y="2848050"/>
            <a:ext cx="5050555" cy="2258788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667ADB2F-69A3-EBFB-5292-1F96A24BECD9}"/>
              </a:ext>
            </a:extLst>
          </p:cNvPr>
          <p:cNvSpPr txBox="1">
            <a:spLocks/>
          </p:cNvSpPr>
          <p:nvPr/>
        </p:nvSpPr>
        <p:spPr>
          <a:xfrm>
            <a:off x="6172200" y="1639988"/>
            <a:ext cx="4035372" cy="4495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dirty="0">
                <a:solidFill>
                  <a:srgbClr val="343433"/>
                </a:solidFill>
              </a:rPr>
              <a:t>Armas o medios empleados y su relación con el género</a:t>
            </a:r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EAE11DAD-E933-0D8A-E22A-B2A7283076FC}"/>
              </a:ext>
            </a:extLst>
          </p:cNvPr>
          <p:cNvSpPr txBox="1">
            <a:spLocks/>
          </p:cNvSpPr>
          <p:nvPr/>
        </p:nvSpPr>
        <p:spPr>
          <a:xfrm>
            <a:off x="6080128" y="2027208"/>
            <a:ext cx="5050555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50" b="1" dirty="0">
                <a:solidFill>
                  <a:srgbClr val="343433"/>
                </a:solidFill>
              </a:rPr>
              <a:t>¿Por qué se incluye este análisis?  </a:t>
            </a:r>
            <a:r>
              <a:rPr lang="es-CO" sz="1050" dirty="0">
                <a:solidFill>
                  <a:srgbClr val="343433"/>
                </a:solidFill>
              </a:rPr>
              <a:t>El "qué" (arma o medio) y el "quién" (género) son las dos variables causales/demográficas más relevantes del </a:t>
            </a:r>
            <a:r>
              <a:rPr lang="es-CO" sz="1050" dirty="0" err="1">
                <a:solidFill>
                  <a:srgbClr val="343433"/>
                </a:solidFill>
              </a:rPr>
              <a:t>dataset</a:t>
            </a:r>
            <a:r>
              <a:rPr lang="es-CO" sz="1050" dirty="0">
                <a:solidFill>
                  <a:srgbClr val="343433"/>
                </a:solidFill>
              </a:rPr>
              <a:t>. Cruzarlas en una sola consulta, en vez de analizarlas por separado, permite detectar si el riesgo se distribuye igual entre hombres y mujeres o si cambia según el tipo de agresión — una pregunta que ninguna de las dos variables responde por sí sola.</a:t>
            </a:r>
          </a:p>
          <a:p>
            <a:endParaRPr lang="es-CO" dirty="0"/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7095C675-7247-425E-40D0-DF659C0E2A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5022284"/>
              </p:ext>
            </p:extLst>
          </p:nvPr>
        </p:nvGraphicFramePr>
        <p:xfrm>
          <a:off x="6172200" y="2848050"/>
          <a:ext cx="4958484" cy="2258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9251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86DAA-155A-FD8D-71C2-3A40AB076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97EBFBC-2624-5A76-B0A8-0BD871B8C626}"/>
              </a:ext>
            </a:extLst>
          </p:cNvPr>
          <p:cNvSpPr txBox="1"/>
          <p:nvPr/>
        </p:nvSpPr>
        <p:spPr>
          <a:xfrm>
            <a:off x="756638" y="828742"/>
            <a:ext cx="9450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s-CO" sz="3200" b="1" dirty="0"/>
              <a:t>Análisis de los resultados en la información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068D87-EA47-688F-DE6A-E68548A6A6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F36B307-DD43-8C70-1F9A-26359DB8C91E}"/>
              </a:ext>
            </a:extLst>
          </p:cNvPr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reservada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91441-AC4C-5F29-853C-6F62E7505907}"/>
              </a:ext>
            </a:extLst>
          </p:cNvPr>
          <p:cNvSpPr txBox="1">
            <a:spLocks/>
          </p:cNvSpPr>
          <p:nvPr/>
        </p:nvSpPr>
        <p:spPr>
          <a:xfrm>
            <a:off x="839788" y="1471343"/>
            <a:ext cx="3594189" cy="3460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dirty="0">
                <a:solidFill>
                  <a:srgbClr val="343433"/>
                </a:solidFill>
              </a:rPr>
              <a:t>Distribución por grupo de edad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12E3D1DF-AA7C-2BB8-92BD-E7825603B291}"/>
              </a:ext>
            </a:extLst>
          </p:cNvPr>
          <p:cNvSpPr txBox="1">
            <a:spLocks/>
          </p:cNvSpPr>
          <p:nvPr/>
        </p:nvSpPr>
        <p:spPr>
          <a:xfrm>
            <a:off x="839788" y="1818497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50" b="1" dirty="0">
                <a:solidFill>
                  <a:srgbClr val="343433"/>
                </a:solidFill>
              </a:rPr>
              <a:t>¿Por qué se incluye este análisis?  </a:t>
            </a:r>
            <a:r>
              <a:rPr lang="es-CO" sz="1050" dirty="0">
                <a:solidFill>
                  <a:srgbClr val="343433"/>
                </a:solidFill>
              </a:rPr>
              <a:t>Permite identificar si el fenómeno afecta principalmente a un grupo etario específico, información necesaria para orientar políticas de prevención dirigidas (por ejemplo, programas escolares si el peso de menores fuera alto). También sirve como control de calidad: una participación estable año a año descarta que el pico de 2022 se deba a un cambio en la composición demográfica de los casos.</a:t>
            </a:r>
          </a:p>
          <a:p>
            <a:endParaRPr lang="es-CO" sz="1050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ACE98F6D-2615-2207-0397-0DC73C610D85}"/>
              </a:ext>
            </a:extLst>
          </p:cNvPr>
          <p:cNvSpPr txBox="1">
            <a:spLocks/>
          </p:cNvSpPr>
          <p:nvPr/>
        </p:nvSpPr>
        <p:spPr>
          <a:xfrm>
            <a:off x="6172200" y="1639988"/>
            <a:ext cx="4035372" cy="4495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dirty="0">
                <a:solidFill>
                  <a:srgbClr val="343433"/>
                </a:solidFill>
              </a:rPr>
              <a:t> Estacionalidad por día de la semana</a:t>
            </a:r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CE683536-A540-EC9D-3B93-3EBF69519C14}"/>
              </a:ext>
            </a:extLst>
          </p:cNvPr>
          <p:cNvSpPr txBox="1">
            <a:spLocks/>
          </p:cNvSpPr>
          <p:nvPr/>
        </p:nvSpPr>
        <p:spPr>
          <a:xfrm>
            <a:off x="6080128" y="2027208"/>
            <a:ext cx="5050555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50" b="1" dirty="0">
                <a:solidFill>
                  <a:srgbClr val="343433"/>
                </a:solidFill>
              </a:rPr>
              <a:t>¿Por qué se incluye este análisis?  </a:t>
            </a:r>
            <a:r>
              <a:rPr lang="es-CO" sz="1050" dirty="0">
                <a:solidFill>
                  <a:srgbClr val="343433"/>
                </a:solidFill>
              </a:rPr>
              <a:t>El volumen total por región (una fotografía estática) puede ocultar una tendencia distinta a la nacional. Esta consulta agrega la dimensión temporal al análisis territorial, permitiendo identificar si todas las regiones siguen la misma tendencia de descenso detectada en la consulta 1, o si existen comportamientos divergentes que ameriten atención diferenciada.</a:t>
            </a:r>
          </a:p>
          <a:p>
            <a:endParaRPr lang="es-CO" dirty="0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7AD761DE-4137-1055-40E6-E9669F0FB4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0985939"/>
              </p:ext>
            </p:extLst>
          </p:nvPr>
        </p:nvGraphicFramePr>
        <p:xfrm>
          <a:off x="922340" y="2751826"/>
          <a:ext cx="5050555" cy="2355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BC52C085-F082-8938-DF3B-D099021FC7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5711295"/>
              </p:ext>
            </p:extLst>
          </p:nvPr>
        </p:nvGraphicFramePr>
        <p:xfrm>
          <a:off x="6172200" y="2751826"/>
          <a:ext cx="5256212" cy="2355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7572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85E9C-DA73-1FF2-05BF-7BA27A5D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7974656-1F43-3EA6-DB29-B0FA373A1F06}"/>
              </a:ext>
            </a:extLst>
          </p:cNvPr>
          <p:cNvSpPr txBox="1"/>
          <p:nvPr/>
        </p:nvSpPr>
        <p:spPr>
          <a:xfrm>
            <a:off x="756638" y="828742"/>
            <a:ext cx="9450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s-CO" sz="3200" dirty="0"/>
              <a:t>Conclusión 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8F22AFB-D7C4-C194-1016-FD013370A2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73E50F-F6F2-B666-6F30-ABFA24458C78}"/>
              </a:ext>
            </a:extLst>
          </p:cNvPr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reservada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8067DFDA-7D56-AE91-E11F-A48D85941F88}"/>
              </a:ext>
            </a:extLst>
          </p:cNvPr>
          <p:cNvSpPr txBox="1">
            <a:spLocks/>
          </p:cNvSpPr>
          <p:nvPr/>
        </p:nvSpPr>
        <p:spPr>
          <a:xfrm>
            <a:off x="938213" y="1413517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100" dirty="0">
                <a:solidFill>
                  <a:srgbClr val="343433"/>
                </a:solidFill>
              </a:rPr>
              <a:t>El análisis de los casos de lesiones personales en Colombia entre 2021 y 2025, a partir de una base oficial de </a:t>
            </a:r>
            <a:r>
              <a:rPr lang="es-CO" sz="1100" b="1" dirty="0">
                <a:solidFill>
                  <a:srgbClr val="343433"/>
                </a:solidFill>
              </a:rPr>
              <a:t>332.390 registros</a:t>
            </a:r>
            <a:r>
              <a:rPr lang="es-CO" sz="1100" dirty="0">
                <a:solidFill>
                  <a:srgbClr val="343433"/>
                </a:solidFill>
              </a:rPr>
              <a:t> que representan </a:t>
            </a:r>
            <a:r>
              <a:rPr lang="es-CO" sz="1100" b="1" dirty="0">
                <a:solidFill>
                  <a:srgbClr val="343433"/>
                </a:solidFill>
              </a:rPr>
              <a:t>495.272 víctimas</a:t>
            </a:r>
            <a:r>
              <a:rPr lang="es-CO" sz="1100" dirty="0">
                <a:solidFill>
                  <a:srgbClr val="343433"/>
                </a:solidFill>
              </a:rPr>
              <a:t>, permite concluir que el fenómeno presenta un comportamiento heterogéneo en sus dimensiones temporal, demográfica y territorial, y que su transformación en un </a:t>
            </a:r>
            <a:r>
              <a:rPr lang="es-CO" sz="1100" dirty="0" err="1">
                <a:solidFill>
                  <a:srgbClr val="343433"/>
                </a:solidFill>
              </a:rPr>
              <a:t>dashboard</a:t>
            </a:r>
            <a:r>
              <a:rPr lang="es-CO" sz="1100" dirty="0">
                <a:solidFill>
                  <a:srgbClr val="343433"/>
                </a:solidFill>
              </a:rPr>
              <a:t> de seguimiento convierte una base extensa y compleja en información clara para la toma de decisiones.</a:t>
            </a:r>
          </a:p>
          <a:p>
            <a:r>
              <a:rPr lang="es-CO" sz="1100" b="1" dirty="0">
                <a:solidFill>
                  <a:srgbClr val="343433"/>
                </a:solidFill>
              </a:rPr>
              <a:t>Hallazgos principales:</a:t>
            </a:r>
            <a:endParaRPr lang="es-CO" sz="1100" dirty="0">
              <a:solidFill>
                <a:srgbClr val="343433"/>
              </a:solidFill>
            </a:endParaRPr>
          </a:p>
          <a:p>
            <a:pPr lvl="0"/>
            <a:r>
              <a:rPr lang="es-CO" sz="1100" b="1" dirty="0">
                <a:solidFill>
                  <a:srgbClr val="343433"/>
                </a:solidFill>
              </a:rPr>
              <a:t>Temporal:</a:t>
            </a:r>
            <a:r>
              <a:rPr lang="es-CO" sz="1100" dirty="0">
                <a:solidFill>
                  <a:srgbClr val="343433"/>
                </a:solidFill>
              </a:rPr>
              <a:t> los casos crecen hasta </a:t>
            </a:r>
            <a:r>
              <a:rPr lang="es-CO" sz="1100" b="1" dirty="0">
                <a:solidFill>
                  <a:srgbClr val="343433"/>
                </a:solidFill>
              </a:rPr>
              <a:t>2022</a:t>
            </a:r>
            <a:r>
              <a:rPr lang="es-CO" sz="1100" dirty="0">
                <a:solidFill>
                  <a:srgbClr val="343433"/>
                </a:solidFill>
              </a:rPr>
              <a:t> (110.410 casos, año pico) y luego descienden de forma sostenida hasta 2025, con una variación interanual promedio de </a:t>
            </a:r>
            <a:r>
              <a:rPr lang="es-CO" sz="1100" b="1" dirty="0">
                <a:solidFill>
                  <a:srgbClr val="343433"/>
                </a:solidFill>
              </a:rPr>
              <a:t>-3,8%</a:t>
            </a:r>
            <a:r>
              <a:rPr lang="es-CO" sz="1100" dirty="0">
                <a:solidFill>
                  <a:srgbClr val="343433"/>
                </a:solidFill>
              </a:rPr>
              <a:t>. El </a:t>
            </a:r>
            <a:r>
              <a:rPr lang="es-CO" sz="1100" b="1" dirty="0">
                <a:solidFill>
                  <a:srgbClr val="343433"/>
                </a:solidFill>
              </a:rPr>
              <a:t>domingo</a:t>
            </a:r>
            <a:r>
              <a:rPr lang="es-CO" sz="1100" dirty="0">
                <a:solidFill>
                  <a:srgbClr val="343433"/>
                </a:solidFill>
              </a:rPr>
              <a:t> concentra el </a:t>
            </a:r>
            <a:r>
              <a:rPr lang="es-CO" sz="1100" b="1" dirty="0">
                <a:solidFill>
                  <a:srgbClr val="343433"/>
                </a:solidFill>
              </a:rPr>
              <a:t>24,0%</a:t>
            </a:r>
            <a:r>
              <a:rPr lang="es-CO" sz="1100" dirty="0">
                <a:solidFill>
                  <a:srgbClr val="343433"/>
                </a:solidFill>
              </a:rPr>
              <a:t> de los casos, duplicando el promedio de un día laboral. A nivel mensual, </a:t>
            </a:r>
            <a:r>
              <a:rPr lang="es-CO" sz="1100" b="1" dirty="0">
                <a:solidFill>
                  <a:srgbClr val="343433"/>
                </a:solidFill>
              </a:rPr>
              <a:t>octubre, septiembre y diciembre</a:t>
            </a:r>
            <a:r>
              <a:rPr lang="es-CO" sz="1100" dirty="0">
                <a:solidFill>
                  <a:srgbClr val="343433"/>
                </a:solidFill>
              </a:rPr>
              <a:t> presentan la mayor carga.</a:t>
            </a:r>
          </a:p>
          <a:p>
            <a:pPr lvl="0"/>
            <a:r>
              <a:rPr lang="es-CO" sz="1100" b="1" dirty="0">
                <a:solidFill>
                  <a:srgbClr val="343433"/>
                </a:solidFill>
              </a:rPr>
              <a:t>Demográfico:</a:t>
            </a:r>
            <a:r>
              <a:rPr lang="es-CO" sz="1100" dirty="0">
                <a:solidFill>
                  <a:srgbClr val="343433"/>
                </a:solidFill>
              </a:rPr>
              <a:t> la población </a:t>
            </a:r>
            <a:r>
              <a:rPr lang="es-CO" sz="1100" b="1" dirty="0">
                <a:solidFill>
                  <a:srgbClr val="343433"/>
                </a:solidFill>
              </a:rPr>
              <a:t>adulta</a:t>
            </a:r>
            <a:r>
              <a:rPr lang="es-CO" sz="1100" dirty="0">
                <a:solidFill>
                  <a:srgbClr val="343433"/>
                </a:solidFill>
              </a:rPr>
              <a:t> explica el </a:t>
            </a:r>
            <a:r>
              <a:rPr lang="es-CO" sz="1100" b="1" dirty="0">
                <a:solidFill>
                  <a:srgbClr val="343433"/>
                </a:solidFill>
              </a:rPr>
              <a:t>91,9%</a:t>
            </a:r>
            <a:r>
              <a:rPr lang="es-CO" sz="1100" dirty="0">
                <a:solidFill>
                  <a:srgbClr val="343433"/>
                </a:solidFill>
              </a:rPr>
              <a:t> de los casos de forma estable en los cinco años. La brecha de género varía según el medio empleado: de </a:t>
            </a:r>
            <a:r>
              <a:rPr lang="es-CO" sz="1100" b="1" dirty="0">
                <a:solidFill>
                  <a:srgbClr val="343433"/>
                </a:solidFill>
              </a:rPr>
              <a:t>1,3 hombres por mujer</a:t>
            </a:r>
            <a:r>
              <a:rPr lang="es-CO" sz="1100" dirty="0">
                <a:solidFill>
                  <a:srgbClr val="343433"/>
                </a:solidFill>
              </a:rPr>
              <a:t> en agresiones con objetos contundentes a </a:t>
            </a:r>
            <a:r>
              <a:rPr lang="es-CO" sz="1100" b="1" dirty="0">
                <a:solidFill>
                  <a:srgbClr val="343433"/>
                </a:solidFill>
              </a:rPr>
              <a:t>6,0</a:t>
            </a:r>
            <a:r>
              <a:rPr lang="es-CO" sz="1100" dirty="0">
                <a:solidFill>
                  <a:srgbClr val="343433"/>
                </a:solidFill>
              </a:rPr>
              <a:t> en arma traumática.</a:t>
            </a:r>
          </a:p>
          <a:p>
            <a:pPr lvl="0"/>
            <a:r>
              <a:rPr lang="es-CO" sz="1100" b="1" dirty="0">
                <a:solidFill>
                  <a:srgbClr val="343433"/>
                </a:solidFill>
              </a:rPr>
              <a:t>Territorial:</a:t>
            </a:r>
            <a:r>
              <a:rPr lang="es-CO" sz="1100" dirty="0">
                <a:solidFill>
                  <a:srgbClr val="343433"/>
                </a:solidFill>
              </a:rPr>
              <a:t> la región </a:t>
            </a:r>
            <a:r>
              <a:rPr lang="es-CO" sz="1100" b="1" dirty="0">
                <a:solidFill>
                  <a:srgbClr val="343433"/>
                </a:solidFill>
              </a:rPr>
              <a:t>Andina</a:t>
            </a:r>
            <a:r>
              <a:rPr lang="es-CO" sz="1100" dirty="0">
                <a:solidFill>
                  <a:srgbClr val="343433"/>
                </a:solidFill>
              </a:rPr>
              <a:t> concentra el </a:t>
            </a:r>
            <a:r>
              <a:rPr lang="es-CO" sz="1100" b="1" dirty="0">
                <a:solidFill>
                  <a:srgbClr val="343433"/>
                </a:solidFill>
              </a:rPr>
              <a:t>63,6%</a:t>
            </a:r>
            <a:r>
              <a:rPr lang="es-CO" sz="1100" dirty="0">
                <a:solidFill>
                  <a:srgbClr val="343433"/>
                </a:solidFill>
              </a:rPr>
              <a:t> del total nacional, pero la </a:t>
            </a:r>
            <a:r>
              <a:rPr lang="es-CO" sz="1100" b="1" dirty="0">
                <a:solidFill>
                  <a:srgbClr val="343433"/>
                </a:solidFill>
              </a:rPr>
              <a:t>Pacífica</a:t>
            </a:r>
            <a:r>
              <a:rPr lang="es-CO" sz="1100" dirty="0">
                <a:solidFill>
                  <a:srgbClr val="343433"/>
                </a:solidFill>
              </a:rPr>
              <a:t> es la que menos ha reducido su incidencia (</a:t>
            </a:r>
            <a:r>
              <a:rPr lang="es-CO" sz="1100" b="1" dirty="0">
                <a:solidFill>
                  <a:srgbClr val="343433"/>
                </a:solidFill>
              </a:rPr>
              <a:t>-12,5%</a:t>
            </a:r>
            <a:r>
              <a:rPr lang="es-CO" sz="1100" dirty="0">
                <a:solidFill>
                  <a:srgbClr val="343433"/>
                </a:solidFill>
              </a:rPr>
              <a:t>), mientras la </a:t>
            </a:r>
            <a:r>
              <a:rPr lang="es-CO" sz="1100" b="1" dirty="0">
                <a:solidFill>
                  <a:srgbClr val="343433"/>
                </a:solidFill>
              </a:rPr>
              <a:t>Insular</a:t>
            </a:r>
            <a:r>
              <a:rPr lang="es-CO" sz="1100" dirty="0">
                <a:solidFill>
                  <a:srgbClr val="343433"/>
                </a:solidFill>
              </a:rPr>
              <a:t> es la que más cae (</a:t>
            </a:r>
            <a:r>
              <a:rPr lang="es-CO" sz="1100" b="1" dirty="0">
                <a:solidFill>
                  <a:srgbClr val="343433"/>
                </a:solidFill>
              </a:rPr>
              <a:t>-45,5%</a:t>
            </a:r>
            <a:r>
              <a:rPr lang="es-CO" sz="1100" dirty="0">
                <a:solidFill>
                  <a:srgbClr val="343433"/>
                </a:solidFill>
              </a:rPr>
              <a:t>). Esto confirma que volumen y tendencia son dimensiones independientes.</a:t>
            </a:r>
          </a:p>
          <a:p>
            <a:endParaRPr lang="es-CO" sz="1050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307F535B-DDDA-492E-C235-DC32D5374570}"/>
              </a:ext>
            </a:extLst>
          </p:cNvPr>
          <p:cNvSpPr txBox="1">
            <a:spLocks/>
          </p:cNvSpPr>
          <p:nvPr/>
        </p:nvSpPr>
        <p:spPr>
          <a:xfrm>
            <a:off x="6180827" y="1509593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Accede al proyecto</a:t>
            </a:r>
            <a:br>
              <a:rPr lang="es-CO" dirty="0"/>
            </a:br>
            <a:r>
              <a:rPr lang="es-CO" dirty="0"/>
              <a:t>desde cualquier dispositivo.</a:t>
            </a:r>
          </a:p>
        </p:txBody>
      </p:sp>
      <p:sp>
        <p:nvSpPr>
          <p:cNvPr id="16" name="Marcador de contenido 10">
            <a:extLst>
              <a:ext uri="{FF2B5EF4-FFF2-40B4-BE49-F238E27FC236}">
                <a16:creationId xmlns:a16="http://schemas.microsoft.com/office/drawing/2014/main" id="{A1BF4543-B019-B81F-16BF-80DB624E686F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dirty="0">
                <a:solidFill>
                  <a:srgbClr val="343433"/>
                </a:solidFill>
              </a:rPr>
              <a:t>Escanea el código QR para abrir esta página y compartir el proyecto en presentaciones, reuniones o entrevistas.</a:t>
            </a:r>
          </a:p>
          <a:p>
            <a:endParaRPr lang="es-CO" sz="16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E036D27-793F-EA35-D10D-321EFF48D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827" y="3120934"/>
            <a:ext cx="4958483" cy="275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5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4138</TotalTime>
  <Words>1003</Words>
  <Application>Microsoft Office PowerPoint</Application>
  <PresentationFormat>Panorámica</PresentationFormat>
  <Paragraphs>44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Work Sans Bold Roman</vt:lpstr>
      <vt:lpstr>WORK SANS SEMIBOLD ROMAN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AprendizSena</cp:lastModifiedBy>
  <cp:revision>76</cp:revision>
  <dcterms:created xsi:type="dcterms:W3CDTF">2020-10-01T23:51:28Z</dcterms:created>
  <dcterms:modified xsi:type="dcterms:W3CDTF">2026-09-16T21:54:47Z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